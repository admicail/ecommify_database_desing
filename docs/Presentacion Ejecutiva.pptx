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6D98AF-1277-423C-8438-7FBF6B36251A}">
  <a:tblStyle styleId="{5F6D98AF-1277-423C-8438-7FBF6B3625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240184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MAESTRÍA EN ARQUITECTURA DE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1971675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PROYECTO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ECOMMIFY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3011685"/>
            <a:ext cx="1158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Diseño de Base de Datos </a:t>
            </a:r>
            <a:endParaRPr b="0" i="0" sz="21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Modelo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Híbrid</a:t>
            </a:r>
            <a:r>
              <a:rPr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5343376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Docente: Miguel Alfonso Varela |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400300" y="4440435"/>
            <a:ext cx="207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Carlos Alfonso Muñoz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57750" y="4440435"/>
            <a:ext cx="226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Esteban Giovanny Garay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505700" y="4440435"/>
            <a:ext cx="2286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Carlos Sebastian Castillo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226441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Ecosistema Ecommify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2854969"/>
            <a:ext cx="5229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multiproveedor de alta escala diseñada para conectar clientes y vendedores independientes a nivel global.</a:t>
            </a:r>
            <a:endParaRPr b="0" i="0" sz="135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57500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Fragmentación: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División estratégica entre módulos transaccionales y de experiencia.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31408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Escalabilidad: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Soporte para miles de operaciones concurrentes por segundo.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505316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Logística: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Optimización de rutas basada en geolocalización espacial.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17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5694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96023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CONTEXTO DE NEGOCIO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1700" y="1897150"/>
            <a:ext cx="5714999" cy="38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0100"/>
            <a:ext cx="3486150" cy="3116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70100"/>
            <a:ext cx="3486150" cy="3116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470100"/>
            <a:ext cx="3486150" cy="3116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813000"/>
            <a:ext cx="28003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23925" y="33845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Transaccional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3925" y="3975050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Registro de órdenes, desglose financiero, liquidación de pagos múltiples y gestión estricta de inventarios.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5825" y="2813000"/>
            <a:ext cx="28003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695825" y="33845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Catálogo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95825" y="3975050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de productos con atributos altamente variables y esquemas flexibles para diversas categorías.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7725" y="2813000"/>
            <a:ext cx="28003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467725" y="33845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Consistencia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67725" y="3975050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Garantía de propiedades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ACID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el core financiero y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BASE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la navegación masiva.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REQUISITOS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333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381750" y="240149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Módulo PostgreSQL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2992040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normalizado en 3FN para asegurar integridad referencial absoluta.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3712071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Relaciones: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Maestro-Detalle para órdenes e ítems.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15125" y="417686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Centralización: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Clientes y vendedores como identidades fuertes.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15125" y="491594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Geo-Referencia: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Tabla de geolocalización desacoplada para evitar cuellos de botella.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DISEÑO CONCEPTUAL (ER)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13" y="1777775"/>
            <a:ext cx="57340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17"/>
          <p:cNvGraphicFramePr/>
          <p:nvPr/>
        </p:nvGraphicFramePr>
        <p:xfrm>
          <a:off x="581025" y="29377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{5F6D98AF-1277-423C-8438-7FBF6B36251A}</a:tableStyleId>
              </a:tblPr>
              <a:tblGrid>
                <a:gridCol w="3140275"/>
                <a:gridCol w="4105575"/>
                <a:gridCol w="378410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Tabla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Responsabilidad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Claves / Índices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ECOMMIFY_CUSTOMERS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Identidad de compradores y localización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PK: customer_id | Composite Address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ECOMMIFY_ORDERS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 y ciclo de vida de la compra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PK: order_id | Range Index (Time)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ECOMMIFY_ORDER_DETAILS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Desglose financiero e ítems vendidos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PK: order_item_id | FK: product, seller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ECOMMIFY_PRODUCTS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Catálogo maestro e inventario ACID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PK: product_id | GIN Index (JSONB)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7"/>
          <p:cNvSpPr/>
          <p:nvPr/>
        </p:nvSpPr>
        <p:spPr>
          <a:xfrm>
            <a:off x="581025" y="3866405"/>
            <a:ext cx="3140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721298" y="3866405"/>
            <a:ext cx="4105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826871" y="3866405"/>
            <a:ext cx="3784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1025" y="4342655"/>
            <a:ext cx="3140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721298" y="4342655"/>
            <a:ext cx="4105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826871" y="4342655"/>
            <a:ext cx="3784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1025" y="4818905"/>
            <a:ext cx="3140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721298" y="4818905"/>
            <a:ext cx="4105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826871" y="4818905"/>
            <a:ext cx="3784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1025" y="5295155"/>
            <a:ext cx="31402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3721298" y="5295155"/>
            <a:ext cx="4105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826871" y="5295155"/>
            <a:ext cx="3784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ESQUEMA RELACIONAL POSTGRESQL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8779"/>
            <a:ext cx="3486150" cy="281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18779"/>
            <a:ext cx="3486150" cy="281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618779"/>
            <a:ext cx="3486150" cy="281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923925" y="2961679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JSONB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23925" y="3552229"/>
            <a:ext cx="28003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Almacenamiento de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payment_details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especificaciones técnicas variables con índices GIN para búsqueda rápida.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95825" y="2961679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TSTZRANGE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95825" y="3552229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Tipo de rango con zona horaria para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order_logistics_timeline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calculando tiempos de entrega atómicos.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67725" y="2961679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Composite Types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67725" y="3552229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address_type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estandarizar la captura de direcciones en clientes y vendedores.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INGENIERÍA DE DATOS AVANZADA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71525" y="1601539"/>
            <a:ext cx="499062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EXTENSIÓN POSTGIS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1025" y="1601539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2639764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Implementación de infraestructura geoespacial para el motor logístico de Ecommify.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14400" y="3512194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geolocation_point: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Tipo geometry(Point, 4326).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14400" y="3976985"/>
            <a:ext cx="4610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Cálculo Nativo: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Distancias vectoriales entre vendedor y cliente.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14400" y="4716065"/>
            <a:ext cx="4610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Optimización: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Estimación precisa de costos de flete y tiempos de despacho.</a:t>
            </a:r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7377" y="417500"/>
            <a:ext cx="5451376" cy="56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240163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Patrón de Incrustación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81025" y="2992189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Fusión de datos para lecturas de baja latencia ( &lt; 50ms ).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14400" y="3437929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CATALOG_PRODUCTS: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Incluye promociones, media y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reviews_summary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precalculados.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14400" y="417701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CUSTOMER_SESSIONS: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Carrito activo e histórico de actividad en un solo documento.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14400" y="491609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Esquema Flexible: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Atributos dinámicos por categoría sin valores nulos.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MÓDULO DOCUMENTAL MONGODB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0525" y="1677863"/>
            <a:ext cx="5882776" cy="392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79835"/>
            <a:ext cx="11029950" cy="449713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482947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"PostgreSQL protege el dinero; MongoDB habilita la experiencia masiva."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JUSTIFICACIÓN TÉCNICA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637" y="184904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2862" y="184904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455056" y="4897040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81025" y="548759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Enfoque en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Consistencia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Inmediata. Inaceptable perder datos financieros.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446281" y="4897040"/>
            <a:ext cx="52906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MongoDB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572250" y="548759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Enfoque en </a:t>
            </a: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Disponibilidad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Preferible mostrar datos ligeramente latentes a caída del sitio.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875234" y="2858690"/>
            <a:ext cx="245030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CA/CP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586549" y="2858690"/>
            <a:ext cx="101012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AP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TEOREMA CAP APLICADO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2333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81025" y="240149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Flujo de Integración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81025" y="299204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Acoplamiento débil mediante identificadores lógicos:</a:t>
            </a:r>
            <a:endParaRPr/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3285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914400" y="3437780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Lectura: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 App consume de MongoDB para el portal de navegación.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14400" y="417686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Checkout: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datos del carrito MongoDB se inyectan en PostgreSQL para procesar la venta.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914400" y="4915941"/>
            <a:ext cx="4895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Sincronización: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Uso de CDC (Change Data Capture) o servicios de aplicación para consistencia eventual.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POLÍGLOTA HÍBRIDA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0585"/>
            <a:ext cx="3486150" cy="3455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00585"/>
            <a:ext cx="3486150" cy="3455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300585"/>
            <a:ext cx="3486150" cy="3455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923925" y="26434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Limitación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923925" y="323403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Duplicidad de datos entre el catálogo maestro (SQL) y el masivo (NoSQL).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923925" y="4228355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923925" y="441885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Mitigación: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Implementación de triggers y colas de mensajes (RabbitMQ/Kafka).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4695825" y="26434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Limitación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4695825" y="3234035"/>
            <a:ext cx="2800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Complejidad en la gestión de integridad inter-motor.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4695825" y="3954065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4695825" y="414456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Mitigación: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Manejo de transacciones de compensación (Patrón Saga).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8467725" y="264348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Limitación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467725" y="3234035"/>
            <a:ext cx="2800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Latencia en cálculos geoespaciales sobre PostGIS.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8467725" y="3954065"/>
            <a:ext cx="28003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8467725" y="414456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Mitigación: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Índices espaciales GIST y particionamiento por zonas postales.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DESAFÍOS Y ESTRATEGIAS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581025" y="4247480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520362" y="374079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Fase 1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581025" y="4331344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Despliegue de PostgreSQL Core y normalización de entidades críticas.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3388131" y="374079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Fase 2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3448794" y="4331344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Implementación de PostGIS y lógicas de ruteo logístico.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6255900" y="374079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Fase 3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316563" y="4331344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Migración de catálogo a MongoDB Atlas y embedding de media/reviews.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9123670" y="374079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Fase 4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184332" y="4331344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Optimización mediante Índices GIN y pruebas de carga masiva.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ROADMAP DE IMPLEMENTACIÓN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1699021" y="337884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4566791" y="337884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7434560" y="337884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10302329" y="337884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